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58" r:id="rId5"/>
    <p:sldId id="257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55C49-B034-C2E9-5DD4-8A3E92887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9E4943-FEE4-E0CC-9519-C4E70C494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7006C-56BA-550F-6DE3-34F0CC1A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95B5D-2AD0-4177-ABA2-A38B548662B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8D965-06E1-AD53-E260-B6BB40868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061F9-93C4-80DB-C18F-3D017797B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2AB1-BDB0-41CA-9450-7372964D6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587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0320A-A7E8-009C-78F2-6CE56C741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5C419-D84C-8B06-0291-09D554E28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87786-95B4-2706-8DA2-7B407955E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95B5D-2AD0-4177-ABA2-A38B548662B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61B8A-DE44-6746-6CA3-8A2D7B960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48CA5-0468-D569-9567-8D465470E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2AB1-BDB0-41CA-9450-7372964D6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88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B8202-DA99-4D16-E701-D7F74154E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A698B-0E02-3A00-AE2F-3076A92A6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2542B-F924-0EFE-826A-CC615393F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95B5D-2AD0-4177-ABA2-A38B548662B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C15C0-7D60-A205-9942-FC153EF5F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EB055-F29D-EBED-8784-9066312DE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2AB1-BDB0-41CA-9450-7372964D6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540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17BD4-9531-E75B-B304-83DC9C723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42906-AD45-8687-4075-F71F55C3A2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16983-4343-8B53-E1D6-FDFF748EC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840FC-564C-BF85-337A-406934DAE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95B5D-2AD0-4177-ABA2-A38B548662B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5EEE9-EEA2-C840-BFE3-A6B80D9CD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57DB6-CE3A-2945-96AA-506030822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2AB1-BDB0-41CA-9450-7372964D6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8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2956B-C1D5-653C-BC54-BFBDF0200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BF543-EDA2-4624-319F-980299485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168548-F52E-8350-06F3-37E5861D4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F6010C-654D-EE52-B2E4-47971B8E1C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62ABF2-D549-1052-4AF6-58CE2A1F1B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A93C83-D087-26BD-CF78-B98D5A62C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95B5D-2AD0-4177-ABA2-A38B548662B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D70891-6E4A-37CD-9FD2-565CE4D25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93545F-3F10-0E0C-F04E-C7079049F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2AB1-BDB0-41CA-9450-7372964D6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707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7B329-7E6C-5CA1-748B-3D3C29758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7F933B-F570-3510-65D1-73155BCC5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95B5D-2AD0-4177-ABA2-A38B548662B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FD5D87-3233-2A49-111E-D51870AE3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9F8F6C-C463-998C-2051-B2F14F03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2AB1-BDB0-41CA-9450-7372964D6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473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2F52C2-EADE-59F5-0082-050B27CB0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95B5D-2AD0-4177-ABA2-A38B548662B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4F638F-763A-3CB0-7DB6-65956F8AA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93667-62BE-8A8C-AB76-068D8CAA4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2AB1-BDB0-41CA-9450-7372964D6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766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8D496-2870-039B-4990-60B9B849C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D03F0-37CD-3FD6-7841-D3FC1D80F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5069D2-4A48-C2EF-FE9A-BAE8491CC3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252C9-3E17-1C4F-D0F9-52BA9CF74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95B5D-2AD0-4177-ABA2-A38B548662B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5B09E-FC81-0154-189E-DF37B1ABE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F2FB5-BE28-6A96-AB97-7490861C0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2AB1-BDB0-41CA-9450-7372964D6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004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29050-D30E-548E-E79A-CA220C48A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BCD63-F281-996B-8C29-F82448593A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626A57-D442-E88C-C349-6BE5DEE32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5BC21-8357-E8ED-5FC8-5A1C62510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95B5D-2AD0-4177-ABA2-A38B548662B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5E1CE-032A-8E90-8FF9-5AFD7610D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B50BF-452D-1574-7293-CE53EE243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2AB1-BDB0-41CA-9450-7372964D6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724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0B94A-8A26-6668-D6DE-A2A1F0D14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0C4F6-9651-C46A-2B8F-7B6E6C8BB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25E57-2ABF-0D14-610A-EC76BAC9A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95B5D-2AD0-4177-ABA2-A38B548662B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EC0CF-6F2B-86D3-FB22-ED70B695E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87033-1AFA-5D56-8131-864FFA7C0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2AB1-BDB0-41CA-9450-7372964D6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299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9C6D1A-1316-B97D-BFCB-5E1AC8B9F1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95C0E-136C-D192-B232-61DA94AF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04F8A-C6B8-5FB8-1F39-11EAB7BC0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95B5D-2AD0-4177-ABA2-A38B548662B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4D63D-BD08-3CFA-455D-898AD526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AB2A3-03AF-B435-9380-1E2A12BC6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2AB1-BDB0-41CA-9450-7372964D6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40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A862B6-140D-43B5-41DC-6D4BFAED3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57B7C-C2E1-969B-9B30-235308499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ECFE4-7819-9FE0-ED11-D255726AF3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95B5D-2AD0-4177-ABA2-A38B548662B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FFB58-5087-58F5-8470-07C819998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FBF55-8837-A3A3-7FFE-3AE152500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E2AB1-BDB0-41CA-9450-7372964D6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346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48EDE-6CCF-2616-0159-A4F6BD39B6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PROJECT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F281F-0856-62CC-92BE-84E2466989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CHARVI SREE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25CEM5R06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2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187AE-BDDA-5913-4BC0-4BBAF3477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003"/>
            <a:ext cx="10515600" cy="1325563"/>
          </a:xfrm>
        </p:spPr>
        <p:txBody>
          <a:bodyPr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9450B7-3CE6-9083-98E1-7CC545D0A84E}"/>
              </a:ext>
            </a:extLst>
          </p:cNvPr>
          <p:cNvSpPr txBox="1"/>
          <p:nvPr/>
        </p:nvSpPr>
        <p:spPr>
          <a:xfrm>
            <a:off x="489097" y="857784"/>
            <a:ext cx="11430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literature on using Sentinel-5P TROPOMI NO₂ as a proxy for urban vehicular emissions in Indian cities emphasizes its high spatial resolution (3.5 × 5.5 km) and daily coverage, enabling effective monitoring in data-scarce regions. Studies validate TROPOMI data against ground-based measurements from the Central Pollution Control Board (CPCB), showing correlations ranging from R=0.4 to 0.92, though underestimation occurs in highly polluted urban cores due to aerosol interference and vertical profile assumptions. Validation exercises reveal a negative bias of -20% to -40% in tropospheric NO₂ vertical column densities (VCDs) over Delhi and Mumbai, attributed to cloud contamination and retrieval algorithm limitations, but improvements in version 2.2 reduce this to -10% when compared to Ozone Monitoring Instrument (OMI) data. In Tier-1 cities like Bangalore, TROPOMI NO₂ correlates strongly (R=0.78) with vehicular traffic density, confirming its utility as an emission proxy, yet seasonal discrepancies arise during monsoons due to washout effects.</a:t>
            </a:r>
          </a:p>
          <a:p>
            <a:pPr algn="just">
              <a:buNone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conflicting findings include overestimation in industrial hotspots like 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Singrauli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(up to +15%) versus underestimation in traffic-dominated areas, highlighting methodological limitations in distinguishing anthropogenic sources without auxiliary data like wind fields. Studies from 2022-2026 prioritize TROPOMI validation against CPCB AQI monitors, with Pearson correlations improving from 0.6 to 0.85 post-2023 algorithm updates. For Indian contexts, TROPOMI data reveal a 10-20% NO₂ reduction during COVID-19 lockdowns, validated against ground sensors, but rebound effects post-2022 conflict with pre-pandemic trends, suggesting incomplete emission inventories.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6E37E7-3279-8481-E4C9-962A345F3EDF}"/>
              </a:ext>
            </a:extLst>
          </p:cNvPr>
          <p:cNvSpPr txBox="1"/>
          <p:nvPr/>
        </p:nvSpPr>
        <p:spPr>
          <a:xfrm>
            <a:off x="489097" y="5020592"/>
            <a:ext cx="115469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Critical Analysis: While TROPOMI excels in capturing broad urban emission patterns, limitations include spatial resolution inadequate for street-level analysis in dense Indian cities, leading to averaging biases. Conflicting findings show stronger validations in dry seasons (R&gt;0.8) versus monsoons (R&lt;0.5) due to cloud interference. Methodological gaps in aerosol correction cause underestimation in polluted Indo-Gangetic Plains, contrasting with accurate estimates in less hazy southern cities. Benchmarks from European cities (e.g., Madrid, R=0.81) highlight TROPOMI's reliability for sustainable transport 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but Indian studies lack integration with traffic data, limiting causal inference.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840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40C4CB-C3D6-8662-62E8-C663255148B8}"/>
              </a:ext>
            </a:extLst>
          </p:cNvPr>
          <p:cNvSpPr txBox="1"/>
          <p:nvPr/>
        </p:nvSpPr>
        <p:spPr>
          <a:xfrm>
            <a:off x="595423" y="612845"/>
            <a:ext cx="1091963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Identification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Tier-2 Indian cities like 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Hanamkonda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lies in the absence of ground-based sensors, relying solely on sparse CPCB monitors that fail to capture street-level spatial variability. Existing literature focuses on Tier-1 metros (e.g., Delhi, Bangalore), overlooking smaller urban 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where vehicular emissions dominate but lack high-resolution 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No studies integrate OpenStreetMap road density with TROPOMI NO₂ for top-down emission proxies.</a:t>
            </a:r>
          </a:p>
          <a:p>
            <a:pPr>
              <a:buNone/>
            </a:pP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Selection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Geospatial Correlation of Road Network Density and Tropospheric NO₂ as a Proxy for Vehicular Emissions 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Hanamkonda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Sentinel-5P and OpenStreetMap Analysis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Satellite-Driven Assessment of Urban Pollution Hotspots: Linking Infrastructure Density to Air Quality in a Tier-2 Indian City for Sustainable Development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Top-Down Monitoring of Vehicular Emission Impacts: Spatiotemporal NO₂ Analysis Using TROPOMI and GIS Tools for Urban Informatics Applications</a:t>
            </a:r>
          </a:p>
        </p:txBody>
      </p:sp>
    </p:spTree>
    <p:extLst>
      <p:ext uri="{BB962C8B-B14F-4D97-AF65-F5344CB8AC3E}">
        <p14:creationId xmlns:p14="http://schemas.microsoft.com/office/powerpoint/2010/main" val="413467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4B76F0C-3DB4-CEA3-3FF0-99D02EA33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496381"/>
              </p:ext>
            </p:extLst>
          </p:nvPr>
        </p:nvGraphicFramePr>
        <p:xfrm>
          <a:off x="625549" y="1095316"/>
          <a:ext cx="11144693" cy="5369280"/>
        </p:xfrm>
        <a:graphic>
          <a:graphicData uri="http://schemas.openxmlformats.org/drawingml/2006/table">
            <a:tbl>
              <a:tblPr/>
              <a:tblGrid>
                <a:gridCol w="2512700">
                  <a:extLst>
                    <a:ext uri="{9D8B030D-6E8A-4147-A177-3AD203B41FA5}">
                      <a16:colId xmlns:a16="http://schemas.microsoft.com/office/drawing/2014/main" val="2880594984"/>
                    </a:ext>
                  </a:extLst>
                </a:gridCol>
                <a:gridCol w="4917095">
                  <a:extLst>
                    <a:ext uri="{9D8B030D-6E8A-4147-A177-3AD203B41FA5}">
                      <a16:colId xmlns:a16="http://schemas.microsoft.com/office/drawing/2014/main" val="1355947461"/>
                    </a:ext>
                  </a:extLst>
                </a:gridCol>
                <a:gridCol w="3714898">
                  <a:extLst>
                    <a:ext uri="{9D8B030D-6E8A-4147-A177-3AD203B41FA5}">
                      <a16:colId xmlns:a16="http://schemas.microsoft.com/office/drawing/2014/main" val="1917513420"/>
                    </a:ext>
                  </a:extLst>
                </a:gridCol>
              </a:tblGrid>
              <a:tr h="2177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</a:t>
                      </a:r>
                    </a:p>
                  </a:txBody>
                  <a:tcPr marL="31081" marR="31081" marT="15540" marB="15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31081" marR="31081" marT="15540" marB="15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Tools/Tests</a:t>
                      </a:r>
                    </a:p>
                  </a:txBody>
                  <a:tcPr marL="31081" marR="31081" marT="15540" marB="15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719528"/>
                  </a:ext>
                </a:extLst>
              </a:tr>
              <a:tr h="1090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Data Acquisition</a:t>
                      </a:r>
                    </a:p>
                  </a:txBody>
                  <a:tcPr marL="31081" marR="31081" marT="15540" marB="15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GEE, load Sentinel-5P TROPOMI NO₂ collection (COPERNICUS/S5P/OFFL/L3_NO2). Filter by date and bounding box for Hanamkonda (17.95°N-18.05°N, 79.5°E-79.6°E). Select tropospheric_NO2_column_number_density band. Aggregate daily to weekly means to reduce noise.</a:t>
                      </a:r>
                    </a:p>
                  </a:txBody>
                  <a:tcPr marL="31081" marR="31081" marT="15540" marB="15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GEE JavaScript: var no2 = ee.ImageCollection('COPERNICUS/S5P/OFFL/L3_NO2').filterDate('2026-01-01', '2026-01-28').mean();</a:t>
                      </a:r>
                    </a:p>
                  </a:txBody>
                  <a:tcPr marL="31081" marR="31081" marT="15540" marB="15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972358"/>
                  </a:ext>
                </a:extLst>
              </a:tr>
              <a:tr h="4571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NO₂ Processing</a:t>
                      </a:r>
                    </a:p>
                  </a:txBody>
                  <a:tcPr marL="31081" marR="31081" marT="15540" marB="15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cloud mask (cloud_fraction &lt; 0.3) and reproject to 1 km resolution. Export as GeoTIFF to QGIS.</a:t>
                      </a:r>
                    </a:p>
                  </a:txBody>
                  <a:tcPr marL="31081" marR="31081" marT="15540" marB="15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GEE: Mask and reduce.</a:t>
                      </a:r>
                    </a:p>
                  </a:txBody>
                  <a:tcPr marL="31081" marR="31081" marT="15540" marB="15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386107"/>
                  </a:ext>
                </a:extLst>
              </a:tr>
              <a:tr h="668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Road Network Data</a:t>
                      </a:r>
                    </a:p>
                  </a:txBody>
                  <a:tcPr marL="31081" marR="31081" marT="15540" marB="15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Download OpenStreetMap (OSM) roads for Hanamkonda via Overpass API or Geofabrik. Filter for major roads (highway=primary/secondary/tertiary).</a:t>
                      </a:r>
                    </a:p>
                  </a:txBody>
                  <a:tcPr marL="31081" marR="31081" marT="15540" marB="15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QGIS: Vector layer import.</a:t>
                      </a:r>
                    </a:p>
                  </a:txBody>
                  <a:tcPr marL="31081" marR="31081" marT="15540" marB="15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980160"/>
                  </a:ext>
                </a:extLst>
              </a:tr>
              <a:tr h="5626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Road Density Calculation</a:t>
                      </a:r>
                    </a:p>
                  </a:txBody>
                  <a:tcPr marL="31081" marR="31081" marT="15540" marB="15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 1 km grid over study area. Use kernel density estimation (heatmap plugin) or line density tool to compute road length per km². Rasterize to match NO₂ grid.</a:t>
                      </a:r>
                    </a:p>
                  </a:txBody>
                  <a:tcPr marL="31081" marR="31081" marT="15540" marB="15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QGIS: Processing &gt; Heatmap (Kernel Density Estimation) with 1 km radius.</a:t>
                      </a:r>
                    </a:p>
                  </a:txBody>
                  <a:tcPr marL="31081" marR="31081" marT="15540" marB="15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462609"/>
                  </a:ext>
                </a:extLst>
              </a:tr>
              <a:tr h="4015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 Spatial Integration</a:t>
                      </a:r>
                    </a:p>
                  </a:txBody>
                  <a:tcPr marL="31081" marR="31081" marT="15540" marB="15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Overlay NO₂ raster with road density raster. Extract values at grid points for correlation analysis.</a:t>
                      </a:r>
                    </a:p>
                  </a:txBody>
                  <a:tcPr marL="31081" marR="31081" marT="15540" marB="15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QGIS: Zonal statistics or raster calculator.</a:t>
                      </a:r>
                    </a:p>
                  </a:txBody>
                  <a:tcPr marL="31081" marR="31081" marT="15540" marB="15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250593"/>
                  </a:ext>
                </a:extLst>
              </a:tr>
              <a:tr h="13012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 Statistical Analysis</a:t>
                      </a:r>
                    </a:p>
                  </a:txBody>
                  <a:tcPr marL="31081" marR="31081" marT="15540" marB="15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 </a:t>
                      </a: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Pearson Correlation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between road density and NO₂ VCDs to quantify linear relationship (expected R&gt;0.6 for emission proxy). Use </a:t>
                      </a: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Land Use Regression (LUR)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model: Regress NO₂ on predictors (road density, land use from OSM, elevation from SRTM). Validate with cross-validation (R²&gt;0.5 target). Identify hotspots via Moran's I for spatial autocorrelation.</a:t>
                      </a:r>
                    </a:p>
                  </a:txBody>
                  <a:tcPr marL="31081" marR="31081" marT="15540" marB="15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QGIS: SAGA tools or export to R/Python for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lm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(NO2 ~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road_density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land_use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); Pearson: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cor.test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().</a:t>
                      </a:r>
                    </a:p>
                  </a:txBody>
                  <a:tcPr marL="31081" marR="31081" marT="15540" marB="15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568423"/>
                  </a:ext>
                </a:extLst>
              </a:tr>
              <a:tr h="3516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 Visualization &amp; Validation</a:t>
                      </a:r>
                    </a:p>
                  </a:txBody>
                  <a:tcPr marL="31081" marR="31081" marT="15540" marB="15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 correlations; compare with any available CPCB data for external validation.</a:t>
                      </a:r>
                    </a:p>
                  </a:txBody>
                  <a:tcPr marL="31081" marR="31081" marT="15540" marB="15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QGIS: Symbology and layout.</a:t>
                      </a:r>
                    </a:p>
                  </a:txBody>
                  <a:tcPr marL="31081" marR="31081" marT="15540" marB="15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64311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81682E4-6E33-C8B6-CD01-03CE37D78E09}"/>
              </a:ext>
            </a:extLst>
          </p:cNvPr>
          <p:cNvSpPr txBox="1"/>
          <p:nvPr/>
        </p:nvSpPr>
        <p:spPr>
          <a:xfrm>
            <a:off x="3047114" y="393404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Selection</a:t>
            </a:r>
          </a:p>
        </p:txBody>
      </p:sp>
    </p:spTree>
    <p:extLst>
      <p:ext uri="{BB962C8B-B14F-4D97-AF65-F5344CB8AC3E}">
        <p14:creationId xmlns:p14="http://schemas.microsoft.com/office/powerpoint/2010/main" val="1694743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9C485BD-5B29-9C86-B600-0F51B2369F03}"/>
              </a:ext>
            </a:extLst>
          </p:cNvPr>
          <p:cNvSpPr txBox="1"/>
          <p:nvPr/>
        </p:nvSpPr>
        <p:spPr>
          <a:xfrm>
            <a:off x="196703" y="603040"/>
            <a:ext cx="589929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Get Satellite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Use Google Earth Engine (GEE) online tool.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Search for Sentinel-5P NO₂ images.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Filter by date and location box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/long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Hanamkonda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Average daily data to weekly maps to smooth out noise.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Remove cloudy parts (mask if cloud &gt;30%).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Save as image file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GeoTIFF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Get Road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Download free OpenStreetMap (OSM) roads from website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Geofabrik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Overpass).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Pick only main roads (like highways, streets).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Import into QGIS software (free GIS tool).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Calculate Road Density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In QGIS, make a 1 km grid over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Hanamkonda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map.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Count road length in each grid square (use heatmap or density tool).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Turn into a matching map layer (raster like the NO₂ image).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F87FDE-4517-211D-A6BC-3E85D2335852}"/>
              </a:ext>
            </a:extLst>
          </p:cNvPr>
          <p:cNvSpPr txBox="1"/>
          <p:nvPr/>
        </p:nvSpPr>
        <p:spPr>
          <a:xfrm>
            <a:off x="6625856" y="603040"/>
            <a:ext cx="529324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Overlay and Link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In QGIS, put NO₂ map on top of road density map.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Match points: See where high roads match high NO₂.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Run Stats Tests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Use Pearson Correlation: Check if roads and NO₂ rise together (number like R=0.6+ means strong link).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Try Land Use Regression: Build simple model (NO₂ = roads + other factors like land type).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Check for patterns (e.g., Moran's I for hotspots).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Make Maps and Results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In QGIS, create visuals: Color maps showing pollution tied to roads.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Suggest fixes: Like sustainable transport (buses, bikes) in high spots.</a:t>
            </a:r>
          </a:p>
        </p:txBody>
      </p:sp>
    </p:spTree>
    <p:extLst>
      <p:ext uri="{BB962C8B-B14F-4D97-AF65-F5344CB8AC3E}">
        <p14:creationId xmlns:p14="http://schemas.microsoft.com/office/powerpoint/2010/main" val="2543937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74E988-FC5A-B547-8EA3-9607087F2E76}"/>
              </a:ext>
            </a:extLst>
          </p:cNvPr>
          <p:cNvSpPr txBox="1"/>
          <p:nvPr/>
        </p:nvSpPr>
        <p:spPr>
          <a:xfrm>
            <a:off x="289293" y="25360"/>
            <a:ext cx="11613413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citations (2022–2026) – </a:t>
            </a:r>
          </a:p>
          <a:p>
            <a:pPr>
              <a:buNone/>
            </a:pP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Halder, S., et al. (2025). Spatiotemporal analysis of NO₂ trends over major air pollution hotspots in India using Sentinel-5P.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Earth System Science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Springer.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Gond, L., et al. (2024). Identifying Micro-Level Pollution Hotspots Using Sentinel-5P for the Spatial Analysis of Air Quality Degradation in the National Capital Region, India.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MDPI.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Guttikunda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S.K., et al. (2025). Assessing air quality during India's National Clean Air Programme (NCAP): 2019–2023.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Atmospheric Environment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Elsevier.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Morozova, N., et al. (2024). Unveiling urban air quality dynamics during COVID-19: a Sentinel-5P TROPOMI hotspot analysis.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Springer Nature.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Bodah, B.W., et al. (2022). An assessment of the spatiotemporal dynamics and seasonal trends in NO₂ concentrations across India using advanced statistical analysis.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Climate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Elsevier.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Goldberg, D.L., et al. (2022). Quantifying urban, industrial, and background changes in NO₂ during the COVID-19 lockdown period based on TROPOMI satellite observations.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Atmospheric Chemistry and Physics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Copernicus (aligned with Elsevier standards).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 der A, R.J., et al. (2022). Sentinel-5P TROPOMI NO₂ retrieval: impact of version v2.2 improvements and comparisons with OMI and ground-based data.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Atmospheric Measurement Techniques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Copernicus.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Pollution Control Board (CPCB). (2023). Annual Report on Air Quality Monitoring in Indian Cities: Validation of Satellite Proxies. Government of India Report.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NITI Aayog. (2024). Sustainable Urban Transport: Insights from Satellite Monitoring in Tier-1 Cities. Government of India Policy Paper.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Shetty, S., et al. (2024). Estimating surface NO₂ concentrations over Europe using Sentinel-5P TROPOMI observations and Machine Learning (benchmark for Indian adaptations).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Sensing of Environment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Elsevier</a:t>
            </a:r>
          </a:p>
        </p:txBody>
      </p:sp>
    </p:spTree>
    <p:extLst>
      <p:ext uri="{BB962C8B-B14F-4D97-AF65-F5344CB8AC3E}">
        <p14:creationId xmlns:p14="http://schemas.microsoft.com/office/powerpoint/2010/main" val="4175069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1595</Words>
  <Application>Microsoft Office PowerPoint</Application>
  <PresentationFormat>Widescreen</PresentationFormat>
  <Paragraphs>85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MINOR PROJECT</vt:lpstr>
      <vt:lpstr>Literature Review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 charvi sree</dc:creator>
  <cp:lastModifiedBy>n charvi sree</cp:lastModifiedBy>
  <cp:revision>1</cp:revision>
  <dcterms:created xsi:type="dcterms:W3CDTF">2026-02-18T08:10:49Z</dcterms:created>
  <dcterms:modified xsi:type="dcterms:W3CDTF">2026-02-18T08:46:27Z</dcterms:modified>
</cp:coreProperties>
</file>